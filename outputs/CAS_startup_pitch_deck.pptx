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913112f75342a8" /><Relationship Type="http://schemas.openxmlformats.org/officeDocument/2006/relationships/extended-properties" Target="/docProps/app.xml" Id="R80e93deb71db4510" /><Relationship Type="http://schemas.openxmlformats.org/officeDocument/2006/relationships/officeDocument" Target="/ppt/presentation.xml" Id="R8f562b26636449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b47b272ea74165"/>
  </p:sldMasterIdLst>
  <p:notesMasterIdLst>
    <p:notesMasterId xmlns:r="http://schemas.openxmlformats.org/officeDocument/2006/relationships" r:id="R547c93fa1c274955"/>
  </p:notesMasterIdLst>
  <p:sldIdLst>
    <p:sldId xmlns:r="http://schemas.openxmlformats.org/officeDocument/2006/relationships" id="256" r:id="R715dd8d3a5bc4356"/>
    <p:sldId xmlns:r="http://schemas.openxmlformats.org/officeDocument/2006/relationships" id="257" r:id="R6bfef317c0974f54"/>
    <p:sldId xmlns:r="http://schemas.openxmlformats.org/officeDocument/2006/relationships" id="258" r:id="R70c32ca6d17b470b"/>
    <p:sldId xmlns:r="http://schemas.openxmlformats.org/officeDocument/2006/relationships" id="259" r:id="Rab00e7515681410c"/>
    <p:sldId xmlns:r="http://schemas.openxmlformats.org/officeDocument/2006/relationships" id="260" r:id="R9b017c517a5d4a87"/>
    <p:sldId xmlns:r="http://schemas.openxmlformats.org/officeDocument/2006/relationships" id="261" r:id="Rf9e1de4b0082487b"/>
    <p:sldId xmlns:r="http://schemas.openxmlformats.org/officeDocument/2006/relationships" id="262" r:id="R556c81f6394b4450"/>
    <p:sldId xmlns:r="http://schemas.openxmlformats.org/officeDocument/2006/relationships" id="263" r:id="Reb813ea32d7a4b0a"/>
    <p:sldId xmlns:r="http://schemas.openxmlformats.org/officeDocument/2006/relationships" id="264" r:id="R22a9aa83584244f5"/>
    <p:sldId xmlns:r="http://schemas.openxmlformats.org/officeDocument/2006/relationships" id="265" r:id="R53b68bdb5748498f"/>
    <p:sldId xmlns:r="http://schemas.openxmlformats.org/officeDocument/2006/relationships" id="266" r:id="R0a922a1a65624cea"/>
    <p:sldId xmlns:r="http://schemas.openxmlformats.org/officeDocument/2006/relationships" id="267" r:id="Rf4562a5670ec4ce1"/>
    <p:sldId xmlns:r="http://schemas.openxmlformats.org/officeDocument/2006/relationships" id="268" r:id="R2598a57ca51c4719"/>
    <p:sldId xmlns:r="http://schemas.openxmlformats.org/officeDocument/2006/relationships" id="269" r:id="R76b954173050438f"/>
    <p:sldId xmlns:r="http://schemas.openxmlformats.org/officeDocument/2006/relationships" id="270" r:id="R66473133597f4e6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caf9822749462b" /><Relationship Type="http://schemas.openxmlformats.org/officeDocument/2006/relationships/slideMaster" Target="/ppt/slideMasters/slideMaster1.xml" Id="R3cb47b272ea74165" /><Relationship Type="http://schemas.openxmlformats.org/officeDocument/2006/relationships/notesMaster" Target="/ppt/notesMasters/notesMaster1.xml" Id="R547c93fa1c274955" /><Relationship Type="http://schemas.openxmlformats.org/officeDocument/2006/relationships/presProps" Target="/ppt/presProps.xml" Id="Rc8d63d8a64314c50" /><Relationship Type="http://schemas.openxmlformats.org/officeDocument/2006/relationships/tableStyles" Target="/ppt/tableStyles.xml" Id="R5743cd7d57634353" /><Relationship Type="http://schemas.openxmlformats.org/officeDocument/2006/relationships/slide" Target="/ppt/slides/slide1.xml" Id="R715dd8d3a5bc4356" /><Relationship Type="http://schemas.openxmlformats.org/officeDocument/2006/relationships/slide" Target="/ppt/slides/slide2.xml" Id="R6bfef317c0974f54" /><Relationship Type="http://schemas.openxmlformats.org/officeDocument/2006/relationships/slide" Target="/ppt/slides/slide3.xml" Id="R70c32ca6d17b470b" /><Relationship Type="http://schemas.openxmlformats.org/officeDocument/2006/relationships/slide" Target="/ppt/slides/slide4.xml" Id="Rab00e7515681410c" /><Relationship Type="http://schemas.openxmlformats.org/officeDocument/2006/relationships/slide" Target="/ppt/slides/slide5.xml" Id="R9b017c517a5d4a87" /><Relationship Type="http://schemas.openxmlformats.org/officeDocument/2006/relationships/slide" Target="/ppt/slides/slide6.xml" Id="Rf9e1de4b0082487b" /><Relationship Type="http://schemas.openxmlformats.org/officeDocument/2006/relationships/slide" Target="/ppt/slides/slide7.xml" Id="R556c81f6394b4450" /><Relationship Type="http://schemas.openxmlformats.org/officeDocument/2006/relationships/slide" Target="/ppt/slides/slide8.xml" Id="Reb813ea32d7a4b0a" /><Relationship Type="http://schemas.openxmlformats.org/officeDocument/2006/relationships/slide" Target="/ppt/slides/slide9.xml" Id="R22a9aa83584244f5" /><Relationship Type="http://schemas.openxmlformats.org/officeDocument/2006/relationships/slide" Target="/ppt/slides/slide10.xml" Id="R53b68bdb5748498f" /><Relationship Type="http://schemas.openxmlformats.org/officeDocument/2006/relationships/slide" Target="/ppt/slides/slide11.xml" Id="R0a922a1a65624cea" /><Relationship Type="http://schemas.openxmlformats.org/officeDocument/2006/relationships/slide" Target="/ppt/slides/slide12.xml" Id="Rf4562a5670ec4ce1" /><Relationship Type="http://schemas.openxmlformats.org/officeDocument/2006/relationships/slide" Target="/ppt/slides/slide13.xml" Id="R2598a57ca51c4719" /><Relationship Type="http://schemas.openxmlformats.org/officeDocument/2006/relationships/slide" Target="/ppt/slides/slide14.xml" Id="R76b954173050438f" /><Relationship Type="http://schemas.openxmlformats.org/officeDocument/2006/relationships/slide" Target="/ppt/slides/slide15.xml" Id="R66473133597f4e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e8b149d90c41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8f9487b7d145d6" /><Relationship Type="http://schemas.openxmlformats.org/officeDocument/2006/relationships/notesMaster" Target="/ppt/notesMasters/notesMaster1.xml" Id="R4ea433d5111d44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85432e96a24308" /><Relationship Type="http://schemas.openxmlformats.org/officeDocument/2006/relationships/notesMaster" Target="/ppt/notesMasters/notesMaster1.xml" Id="R624b01c8f9b142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9191ce64b54dc2" /><Relationship Type="http://schemas.openxmlformats.org/officeDocument/2006/relationships/notesMaster" Target="/ppt/notesMasters/notesMaster1.xml" Id="R0e5ce362388b4a8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1138a8d3e6482a" /><Relationship Type="http://schemas.openxmlformats.org/officeDocument/2006/relationships/notesMaster" Target="/ppt/notesMasters/notesMaster1.xml" Id="R0efab2b42b8b4df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7bb42a79024957" /><Relationship Type="http://schemas.openxmlformats.org/officeDocument/2006/relationships/notesMaster" Target="/ppt/notesMasters/notesMaster1.xml" Id="R8a34dee80c834d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0a6e351f9634b28" /><Relationship Type="http://schemas.openxmlformats.org/officeDocument/2006/relationships/notesMaster" Target="/ppt/notesMasters/notesMaster1.xml" Id="R1ff09e74b5ba46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f71f1ae8b54f1c" /><Relationship Type="http://schemas.openxmlformats.org/officeDocument/2006/relationships/notesMaster" Target="/ppt/notesMasters/notesMaster1.xml" Id="R73e607ccd16f4f2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d26b647e9204553" /><Relationship Type="http://schemas.openxmlformats.org/officeDocument/2006/relationships/notesMaster" Target="/ppt/notesMasters/notesMaster1.xml" Id="R7aa896d213f74cb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9a2058113874eed" /><Relationship Type="http://schemas.openxmlformats.org/officeDocument/2006/relationships/notesMaster" Target="/ppt/notesMasters/notesMaster1.xml" Id="R5b9b8e66ac9f49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4fba749ea2d4e36" /><Relationship Type="http://schemas.openxmlformats.org/officeDocument/2006/relationships/notesMaster" Target="/ppt/notesMasters/notesMaster1.xml" Id="Reffb50d16eec438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f0ec18288ce4a71" /><Relationship Type="http://schemas.openxmlformats.org/officeDocument/2006/relationships/notesMaster" Target="/ppt/notesMasters/notesMaster1.xml" Id="Rf4080278db4a497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43ab3ae014a4815" /><Relationship Type="http://schemas.openxmlformats.org/officeDocument/2006/relationships/notesMaster" Target="/ppt/notesMasters/notesMaster1.xml" Id="R80b5e536b9ad4fe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00a9cf08522443c" /><Relationship Type="http://schemas.openxmlformats.org/officeDocument/2006/relationships/notesMaster" Target="/ppt/notesMasters/notesMaster1.xml" Id="Rf690e349c9324fd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b238d0050724771" /><Relationship Type="http://schemas.openxmlformats.org/officeDocument/2006/relationships/notesMaster" Target="/ppt/notesMasters/notesMaster1.xml" Id="Re71b4422f216401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6ba2361df7146fd" /><Relationship Type="http://schemas.openxmlformats.org/officeDocument/2006/relationships/notesMaster" Target="/ppt/notesMasters/notesMaster1.xml" Id="R69dfd084ed124a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Mở đầu bằng câu chuyện một người mẹ lớn tuổi ở nhà một mình.</a:t>
            </a:r>
          </a:p>
          <a:p xmlns:a="http://schemas.openxmlformats.org/drawingml/2006/main">
            <a:r>
              <a:t>Nhấn mạnh: camera vẫn ghi hình, nhưng camera không biết gọi ai.</a:t>
            </a:r>
          </a:p>
          <a:p xmlns:a="http://schemas.openxmlformats.org/drawingml/2006/main">
            <a:r>
              <a:t>Giới thiệu CAS như một lớp bảo vệ chủ động: quan sát, phát hiện, cảnh báo và hỗ trợ người thân phản ứng trong giờ vàng.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Nói về bối cảnh: người già, người bệnh tim mạch, đột quỵ, động kinh, Alzheimer.</a:t>
            </a:r>
          </a:p>
          <a:p xmlns:a="http://schemas.openxmlformats.org/drawingml/2006/main">
            <a:r>
              <a:t>Nhấn mạnh camera truyền thống giống một nhân chứng im lặng.</a:t>
            </a:r>
          </a:p>
          <a:p xmlns:a="http://schemas.openxmlformats.org/drawingml/2006/main">
            <a:r>
              <a:t>Kết luận: khách hàng không mua AI vì AI hay, họ mua sự an tâm.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Giải thích dòng chảy sản phẩm: camera ghi hình, AI phân tích, backend điều phối, cảnh báo đến người thân.</a:t>
            </a:r>
          </a:p>
          <a:p xmlns:a="http://schemas.openxmlformats.org/drawingml/2006/main">
            <a:r>
              <a:t>Nêu rõ CAS tận dụng camera sẵn có để giảm rào cản triển khai.</a:t>
            </a:r>
          </a:p>
          <a:p xmlns:a="http://schemas.openxmlformats.org/drawingml/2006/main">
            <a:r>
              <a:t>Chốt ý startup: sản phẩm là dịch vụ thông minh trên camera, không phải bán phần cứng đơn thuần.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Trình bày CAS như một hệ sinh thái chứ không phải demo AI rời rạc.</a:t>
            </a:r>
          </a:p>
          <a:p xmlns:a="http://schemas.openxmlformats.org/drawingml/2006/main">
            <a:r>
              <a:t>Đi qua từng tầng: camera, AI, sinh hiệu, cảnh báo, chatbot, billing và vận hành.</a:t>
            </a:r>
          </a:p>
          <a:p xmlns:a="http://schemas.openxmlformats.org/drawingml/2006/main">
            <a:r>
              <a:t>Nhấn mạnh sản phẩm đã nghĩ đến triển khai, doanh thu và bảo mật.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Nêu rằng hạ tầng camera là nền móng của sản phẩm.</a:t>
            </a:r>
          </a:p>
          <a:p xmlns:a="http://schemas.openxmlformats.org/drawingml/2006/main">
            <a:r>
              <a:t>Giải thích UserID/JWT giúp bảo vệ camera gia đình.</a:t>
            </a:r>
          </a:p>
          <a:p xmlns:a="http://schemas.openxmlformats.org/drawingml/2006/main">
            <a:r>
              <a:t>Nhấn mạnh -c:v copy là chi tiết kỹ thuật nhưng tạo lợi thế chi phí khi mở rộng.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Nêu thách thức: nằm trên giường là bình thường, nằm bất động dưới sàn mới nguy hiểm.</a:t>
            </a:r>
          </a:p>
          <a:p xmlns:a="http://schemas.openxmlformats.org/drawingml/2006/main">
            <a:r>
              <a:t>Giải thích ba lớp: pose, CNN-LSTM, bộ lọc ngữ cảnh bằng YOLOv11 và dao động sau ngã.</a:t>
            </a:r>
          </a:p>
          <a:p xmlns:a="http://schemas.openxmlformats.org/drawingml/2006/main">
            <a:r>
              <a:t>Chốt: báo động sai nhiều sẽ làm người dùng mất niềm tin, nên giảm báo động giả là lợi thế cạnh tranh.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Mở bằng câu hỏi: nếu người bệnh không đeo smartwatch thì sao?</a:t>
            </a:r>
          </a:p>
          <a:p xmlns:a="http://schemas.openxmlformats.org/drawingml/2006/main">
            <a:r>
              <a:t>Giải thích rPPG, nhịp thở và Face Mesh ở mức dễ hiểu.</a:t>
            </a:r>
          </a:p>
          <a:p xmlns:a="http://schemas.openxmlformats.org/drawingml/2006/main">
            <a:r>
              <a:t>Nhấn mạnh cá nhân hóa ngưỡng theo hồ sơ bệnh nền là giá trị chăm sóc, không chỉ là camera AI.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Giải thích vì sao cảnh báo chia thành nhiều mốc thay vì báo động ngay lập tức.</a:t>
            </a:r>
          </a:p>
          <a:p xmlns:a="http://schemas.openxmlformats.org/drawingml/2006/main">
            <a:r>
              <a:t>Nhấn mạnh ảnh bằng chứng giúp người thân đánh giá tình huống nhanh hơn.</a:t>
            </a:r>
          </a:p>
          <a:p xmlns:a="http://schemas.openxmlformats.org/drawingml/2006/main">
            <a:r>
              <a:t>Chốt: CAS không chỉ biết có sự cố, mà biết gọi đúng người vào đúng thời điểm.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Nói rằng một cảnh báo chỉ báo có vấn đề, còn AI Brain cung cấp ngữ cảnh.</a:t>
            </a:r>
          </a:p>
          <a:p xmlns:a="http://schemas.openxmlformats.org/drawingml/2006/main">
            <a:r>
              <a:t>Đưa ví dụ các câu hỏi người thân có thể hỏi.</a:t>
            </a:r>
          </a:p>
          <a:p xmlns:a="http://schemas.openxmlformats.org/drawingml/2006/main">
            <a:r>
              <a:t>Nhấn mạnh đây là cách tăng giá trị vòng đời khách hàng và biến CAS thành nền tảng chăm sóc liên tục.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Trình bày CAS có cả hướng B2C và B2B.</a:t>
            </a:r>
          </a:p>
          <a:p xmlns:a="http://schemas.openxmlformats.org/drawingml/2006/main">
            <a:r>
              <a:t>Giải thích mô hình SaaS theo số lượng camera: bắt đầu nhỏ, mở rộng tự nhiên.</a:t>
            </a:r>
          </a:p>
          <a:p xmlns:a="http://schemas.openxmlformats.org/drawingml/2006/main">
            <a:r>
              <a:t>Nêu thêm dịch vụ triển khai, lưu trữ bằng chứng và gói AI nâng cao như nguồn doanh thu tương lai.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Nhấn mạnh giao diện của CAS phục vụ tình huống căng thẳng.</a:t>
            </a:r>
          </a:p>
          <a:p xmlns:a="http://schemas.openxmlformats.org/drawingml/2006/main">
            <a:r>
              <a:t>Người dùng cần biết ai gặp nguy hiểm, camera nào, mức độ nào, hệ thống đã làm gì.</a:t>
            </a:r>
          </a:p>
          <a:p xmlns:a="http://schemas.openxmlformats.org/drawingml/2006/main">
            <a:r>
              <a:t>Chốt: UI giúp giảm thời gian nhận thức, nên cũng góp phần cứu hộ.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Nói rằng CAS xử lý video gia đình và dữ liệu sức khỏe, nên bảo mật là điều kiện sống còn.</a:t>
            </a:r>
          </a:p>
          <a:p xmlns:a="http://schemas.openxmlformats.org/drawingml/2006/main">
            <a:r>
              <a:t>Trình bày các lớp bảo mật hiện có: JWT, secure HLS, ownership, X-API-Key.</a:t>
            </a:r>
          </a:p>
          <a:p xmlns:a="http://schemas.openxmlformats.org/drawingml/2006/main">
            <a:r>
              <a:t>Thừa nhận các điểm cần hoàn thiện. Đây là cách thể hiện tư duy startup nghiêm túc.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Giải thích phiên bản hiện tại tập trung vào phát hiện và phản ứng.</a:t>
            </a:r>
          </a:p>
          <a:p xmlns:a="http://schemas.openxmlformats.org/drawingml/2006/main">
            <a:r>
              <a:t>Tầm nhìn tiếp theo là phòng ngừa: vùng nguy hiểm, đi lang thang ban đêm.</a:t>
            </a:r>
          </a:p>
          <a:p xmlns:a="http://schemas.openxmlformats.org/drawingml/2006/main">
            <a:r>
              <a:t>Nhấn mạnh khả năng mở rộng từ một use case sang nền tảng chăm sóc người già tại nhà.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Nêu rằng startup không thể chỉ chạy trên máy lập trình viên.</a:t>
            </a:r>
          </a:p>
          <a:p xmlns:a="http://schemas.openxmlformats.org/drawingml/2006/main">
            <a:r>
              <a:t>Trình bày Docker Compose và script khôi phục VPS.</a:t>
            </a:r>
          </a:p>
          <a:p xmlns:a="http://schemas.openxmlformats.org/drawingml/2006/main">
            <a:r>
              <a:t>Chốt: độ ổn định vận hành cũng là một phần giá trị sản phẩm.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Kết bằng cảm xúc: chúng ta yêu thương người thân nhưng không phải lúc nào cũng có mặt đúng lúc.</a:t>
            </a:r>
          </a:p>
          <a:p xmlns:a="http://schemas.openxmlformats.org/drawingml/2006/main">
            <a:r>
              <a:t>Nhắc lại CAS: phát hiện, cảnh báo, hỗ trợ ra quyết định và có mô hình kinh doanh rõ.</a:t>
            </a:r>
          </a:p>
          <a:p xmlns:a="http://schemas.openxmlformats.org/drawingml/2006/main">
            <a:r>
              <a:t>Dừng ở câu: CAS không chỉ bán phần mềm, CAS bán sự an tâm.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a7a05ddd2248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d718d4b8154b87" /><Relationship Type="http://schemas.openxmlformats.org/officeDocument/2006/relationships/slideLayout" Target="/ppt/slideLayouts/slideLayout1.xml" Id="Rb684d215eedf45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84d215eedf45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a129f147494022" /><Relationship Type="http://schemas.openxmlformats.org/officeDocument/2006/relationships/notesSlide" Target="/ppt/notesSlides/notesSlide1.xml" Id="R8d5b86eee8b749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9c89e984ad43e2" /><Relationship Type="http://schemas.openxmlformats.org/officeDocument/2006/relationships/notesSlide" Target="/ppt/notesSlides/notesSlide2.xml" Id="Re6212ed799e540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f0f40a3db6432b" /><Relationship Type="http://schemas.openxmlformats.org/officeDocument/2006/relationships/notesSlide" Target="/ppt/notesSlides/notesSlide3.xml" Id="Rc71b82fa4f614f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c6e1b592af4247" /><Relationship Type="http://schemas.openxmlformats.org/officeDocument/2006/relationships/notesSlide" Target="/ppt/notesSlides/notesSlide4.xml" Id="R786d0aaede4944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c5947e3bb94814" /><Relationship Type="http://schemas.openxmlformats.org/officeDocument/2006/relationships/notesSlide" Target="/ppt/notesSlides/notesSlide5.xml" Id="R9879fa839f60467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551ad1a7ed4770" /><Relationship Type="http://schemas.openxmlformats.org/officeDocument/2006/relationships/notesSlide" Target="/ppt/notesSlides/notesSlide6.xml" Id="R9887ad9483a24e3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b15aee248042bd" /><Relationship Type="http://schemas.openxmlformats.org/officeDocument/2006/relationships/notesSlide" Target="/ppt/notesSlides/notesSlide7.xml" Id="R3ed3b0a7dc7542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6bdc45869d4bb7" /><Relationship Type="http://schemas.openxmlformats.org/officeDocument/2006/relationships/notesSlide" Target="/ppt/notesSlides/notesSlide8.xml" Id="R6f18a6e65f27418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4f417f8eac4d18" /><Relationship Type="http://schemas.openxmlformats.org/officeDocument/2006/relationships/notesSlide" Target="/ppt/notesSlides/notesSlide9.xml" Id="Re726d8e32e83459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1d65d3870f4230" /><Relationship Type="http://schemas.openxmlformats.org/officeDocument/2006/relationships/notesSlide" Target="/ppt/notesSlides/notesSlide10.xml" Id="R092553dbd827490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94d807b8de4004" /><Relationship Type="http://schemas.openxmlformats.org/officeDocument/2006/relationships/notesSlide" Target="/ppt/notesSlides/notesSlide11.xml" Id="R46a814e8ad4d4e2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76293b307d4551" /><Relationship Type="http://schemas.openxmlformats.org/officeDocument/2006/relationships/notesSlide" Target="/ppt/notesSlides/notesSlide12.xml" Id="Re025867b703f4bc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ed561511b24b16" /><Relationship Type="http://schemas.openxmlformats.org/officeDocument/2006/relationships/notesSlide" Target="/ppt/notesSlides/notesSlide13.xml" Id="R63fdb020e28f44d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2235cc83ad4343" /><Relationship Type="http://schemas.openxmlformats.org/officeDocument/2006/relationships/notesSlide" Target="/ppt/notesSlides/notesSlide14.xml" Id="Raafe146e1e2c44d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264366bde646ec" /><Relationship Type="http://schemas.openxmlformats.org/officeDocument/2006/relationships/notesSlide" Target="/ppt/notesSlides/notesSlide15.xml" Id="R636a9e500ecc455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31E95D-2AD2-4C77-9CBF-82A90414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74295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A44461-99B9-49AB-997E-8AB7784A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09700"/>
            <a:ext cx="1866900" cy="1866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3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99E6C8-1A9C-4D49-9712-6E25B896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295650"/>
            <a:ext cx="33337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101B2D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4550C0-7F12-4FC7-AA72-A7313B00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5814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EF4444"/>
                </a:solidFill>
                <a:latin typeface="Aptos"/>
                <a:ea typeface="Aptos"/>
                <a:cs typeface="Aptos"/>
              </a:rPr>
              <a:t>EMERGENCY ALERT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D2BD65-B1B3-47F2-BB4B-A1CD791F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43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Phát hiện bất thường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031EA4-1D62-4E7A-A387-EC965938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3243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A8B3C7"/>
                </a:solidFill>
                <a:latin typeface="Aptos"/>
                <a:ea typeface="Aptos"/>
                <a:cs typeface="Aptos"/>
              </a:rPr>
              <a:t>Camera phòng khách • 20 giây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BB6248-68ED-4875-A6B4-C27A3CFC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29150"/>
            <a:ext cx="20383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A57067-0146-46B2-ADE8-CDD30CF7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14875"/>
            <a:ext cx="154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Gọi người thân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5DF647-4BF4-487B-9A3E-69A79BD2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 i="0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CAS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9DD6D2-9B8F-44A6-8222-FF35A438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950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Cardiac Alert 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7FD736-B7C6-4FA5-B054-37084A60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905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 i="0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Biến camera trong gia đình thành hệ thống chăm sóc chủ động bằng 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FAA329-758D-4E23-84E5-D6570940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533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A8B3C7"/>
                </a:solidFill>
                <a:latin typeface="Aptos"/>
                <a:ea typeface="Aptos"/>
                <a:cs typeface="Aptos"/>
              </a:rPr>
              <a:t>Không chỉ ghi lại sự cố. CAS cảnh báo khi sự cố đang xảy ra.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6720F6-CC30-4856-93B2-ADE8658D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33950"/>
            <a:ext cx="13144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4243A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2A74E1-1099-4572-85F9-0925DBDA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015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AI Camera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73C3DB-3DA3-40D5-80EF-FD9852C0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33950"/>
            <a:ext cx="17907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4243A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486540-A3E8-4463-846A-08EEAAF5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10150"/>
            <a:ext cx="1485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Cảnh báo đa kênh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141FD7-8F1F-46B4-B979-5F023A4A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933950"/>
            <a:ext cx="15240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14243A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54FFD8-C41A-4DB4-BB42-FAF46EC8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1015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0B981"/>
                </a:solidFill>
                <a:latin typeface="Aptos"/>
                <a:ea typeface="Aptos"/>
                <a:cs typeface="Aptos"/>
              </a:rPr>
              <a:t>RAG Assistant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05FBE6-1509-4272-B6FC-D9B8D55F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CAS Startup Pitch  |  01/15</a:t>
            </a:r>
          </a:p>
        </p:txBody>
      </p:sp>
    </p:spTree>
    <p:extLst>
      <p:ext uri="{BB962C8B-B14F-4D97-AF65-F5344CB8AC3E}">
        <p14:creationId xmlns:p14="http://schemas.microsoft.com/office/powerpoint/2010/main" val="12022298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1AED0C-C454-4D8E-A56D-89FA9E77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VẤN ĐỀ THỊ TRƯỜNG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5160FF-2E2D-4EA2-B4E1-941D5A64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7810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Gia đình thiếu một người gác sức khỏe 24/7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43E8FD-D449-432C-85AC-AEF4ED0E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CAS Startup Pitch  |  02/15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64608A-D97F-4AA4-9C61-E2BE39AF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A8B3C7"/>
                </a:solidFill>
                <a:latin typeface="Aptos"/>
                <a:ea typeface="Aptos"/>
                <a:cs typeface="Aptos"/>
              </a:rPr>
              <a:t>Khoảng trống không nằm ở việc thiếu thiết bị, mà nằm ở việc thiết bị chưa biết hành động.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EBAA73-149E-4A38-9FED-329CC95B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33337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101B2D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59BC1A-465B-41B6-9E4F-8FEC49415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57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35C15A-B935-48FF-B37C-790E7AEE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Camera truyền thống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2C3BDC-924E-48E5-A693-E07C0750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2876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8B3C7"/>
                </a:solidFill>
                <a:latin typeface="Aptos"/>
                <a:ea typeface="Aptos"/>
                <a:cs typeface="Aptos"/>
              </a:rPr>
              <a:t>Ghi lại quá khứ, nhưng không tự hiểu tai nạn và không tự gửi cảnh báo.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FB34D4-2EBD-47BD-9B28-6E6442FA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76500"/>
            <a:ext cx="33337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101B2D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F6576A-8691-4F3F-98D7-C52CC888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76500"/>
            <a:ext cx="57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294F9B-160A-466D-B283-F4230EE6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6700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Thiết bị đeo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7248B2-F510-437B-842D-A84EB44A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28950"/>
            <a:ext cx="2876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8B3C7"/>
                </a:solidFill>
                <a:latin typeface="Aptos"/>
                <a:ea typeface="Aptos"/>
                <a:cs typeface="Aptos"/>
              </a:rPr>
              <a:t>Phụ thuộc vào việc người dùng nhớ đeo, nhớ sạc và sử dụng đúng cách.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26916D-E47F-41C8-B206-3309DE1D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76500"/>
            <a:ext cx="33337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101B2D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64CB8E-1177-4A8B-8F4F-78CD1A36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76500"/>
            <a:ext cx="57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3C123F-70DF-4A0E-9EE4-3BDB89B8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6700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Gia đình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477432-D3CC-4D16-980A-5E34752C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28950"/>
            <a:ext cx="2876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8B3C7"/>
                </a:solidFill>
                <a:latin typeface="Aptos"/>
                <a:ea typeface="Aptos"/>
                <a:cs typeface="Aptos"/>
              </a:rPr>
              <a:t>Không thể túc trực 24/7, nhưng cần biết ngay khi người thân gặp nguy hiểm.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C51743-02F4-47C1-95D9-1B95FBE6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29150"/>
            <a:ext cx="88773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4243A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74271A-3270-4DE9-B73D-ACAE9962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8387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EF4444"/>
                </a:solidFill>
                <a:latin typeface="Aptos"/>
                <a:ea typeface="Aptos"/>
                <a:cs typeface="Aptos"/>
              </a:rPr>
              <a:t>Nỗi đau thật: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BA2B25-98DF-46EF-9DB5-271622DC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838700"/>
            <a:ext cx="628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tai nạn xảy ra trong vài giây, nhưng người thân có thể biết sau vài phút hoặc vài giờ.</a:t>
            </a:r>
          </a:p>
        </p:txBody>
      </p:sp>
    </p:spTree>
    <p:extLst>
      <p:ext uri="{BB962C8B-B14F-4D97-AF65-F5344CB8AC3E}">
        <p14:creationId xmlns:p14="http://schemas.microsoft.com/office/powerpoint/2010/main" val="7053120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644E52-C6B8-43C5-9301-BB5DCFC0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GIẢI PHÁP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A9DCE9-199B-47FD-964E-E65C2CE5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7810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Biến camera thành hệ thống chăm sóc chủ động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244ABB-C5B8-4BDC-A3E7-2E850737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CAS Startup Pitch  |  03/15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23B0D5-24BE-47F1-8DDF-CDF15CA1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14668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01B2D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7019B1-8791-496F-BE94-EDF233EB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0985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Camera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5BA533-472F-43E7-9498-B2C27709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90850"/>
            <a:ext cx="1162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8B3C7"/>
                </a:solidFill>
                <a:latin typeface="Aptos"/>
                <a:ea typeface="Aptos"/>
                <a:cs typeface="Aptos"/>
              </a:rPr>
              <a:t>Thu hình từ nhà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A471ED-273E-4AA5-896E-C10D93C4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81300"/>
            <a:ext cx="4953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DD5363-5B37-49A6-96CE-72CCF382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362200"/>
            <a:ext cx="14668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01B2D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D092CE-2C0B-4C13-8F2D-9CA03743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0985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AI Engine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813161-C397-4BE4-8DA7-A0596C6F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90850"/>
            <a:ext cx="1162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8B3C7"/>
                </a:solidFill>
                <a:latin typeface="Aptos"/>
                <a:ea typeface="Aptos"/>
                <a:cs typeface="Aptos"/>
              </a:rPr>
              <a:t>Hiểu tư thế, sinh hiệu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7BB335-A50D-4371-9675-81A427F9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81300"/>
            <a:ext cx="4953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2C8535-E236-43B8-9D6D-2D94E878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62200"/>
            <a:ext cx="14668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01B2D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C927FD-3AF3-423E-B3D9-FD397867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0985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A7214E-FD03-417F-AB2E-CFDC07819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990850"/>
            <a:ext cx="1162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8B3C7"/>
                </a:solidFill>
                <a:latin typeface="Aptos"/>
                <a:ea typeface="Aptos"/>
                <a:cs typeface="Aptos"/>
              </a:rPr>
              <a:t>Đánh giá nguy cơ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898688-6509-43A1-86E3-1D5F1809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81300"/>
            <a:ext cx="4953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4213B6-CA92-49CF-895E-E98859D1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62200"/>
            <a:ext cx="14668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01B2D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9CE5A8-0749-4FD9-9CDF-BDDFFD9C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60985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EF4444"/>
                </a:solidFill>
                <a:latin typeface="Aptos"/>
                <a:ea typeface="Aptos"/>
                <a:cs typeface="Aptos"/>
              </a:rPr>
              <a:t>Cảnh báo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4E906B-8D8D-45F6-A890-B3EEE85E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90850"/>
            <a:ext cx="1162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8B3C7"/>
                </a:solidFill>
                <a:latin typeface="Aptos"/>
                <a:ea typeface="Aptos"/>
                <a:cs typeface="Aptos"/>
              </a:rPr>
              <a:t>Web, Mobile, Telegram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AFA4FA-4271-4D33-B9A6-03D18EA4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81300"/>
            <a:ext cx="4953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D55AAD-87C5-4C2C-B475-3E1642EA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62200"/>
            <a:ext cx="14668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01B2D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256F47-D752-4D16-BB97-3367FC1C1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0985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Người thân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A9DCC9-1CE0-4CBE-B857-C5183208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90850"/>
            <a:ext cx="1162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8B3C7"/>
                </a:solidFill>
                <a:latin typeface="Aptos"/>
                <a:ea typeface="Aptos"/>
                <a:cs typeface="Aptos"/>
              </a:rPr>
              <a:t>Phản ứng kịp thời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0606AE-2088-4F10-9584-820C5263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14850"/>
            <a:ext cx="95631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0D2234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7F527D-82F9-467C-B668-8033FC26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244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Định vị sản phẩm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7D9776-C6A7-424B-A471-C6AA6499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05350"/>
            <a:ext cx="6438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CAS không bán một chiếc camera. CAS bán lớp dịch vụ thông minh giúp gia đình không bỏ lỡ khoảnh khắc nguy cấp.</a:t>
            </a:r>
          </a:p>
        </p:txBody>
      </p:sp>
    </p:spTree>
    <p:extLst>
      <p:ext uri="{BB962C8B-B14F-4D97-AF65-F5344CB8AC3E}">
        <p14:creationId xmlns:p14="http://schemas.microsoft.com/office/powerpoint/2010/main" val="2855278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C93387-0296-45BE-9C7F-2AFA24E3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SẢN PHẨM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CE3B29-014B-4FC6-95CB-92FFABFC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7810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Một hệ sinh thái từ phát hiện đến cứu hộ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329083-1657-4BDC-99E3-39E03677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CAS Startup Pitch  |  04/15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6D0AE8-52F7-4E13-B77B-1C347F69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30480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101B2D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753912-50C9-408D-A069-CA4AB411A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57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B978FC-67F7-43B5-8C56-1C06503F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6695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AI Inference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789087-FD1A-4D3E-BFBD-1A0D6FC2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2890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8B3C7"/>
                </a:solidFill>
                <a:latin typeface="Aptos"/>
                <a:ea typeface="Aptos"/>
                <a:cs typeface="Aptos"/>
              </a:rPr>
              <a:t>Té ngã, co giật, bất tỉnh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B7CA7A-9062-4DE4-888A-B26BB841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76450"/>
            <a:ext cx="30480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101B2D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99300E-30A5-4691-A48F-7B74BE31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76450"/>
            <a:ext cx="57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B9533A-05BD-43F2-A753-AD00BFC3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26695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Go Backend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7D650F-526C-4F02-969A-B235FB24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62890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8B3C7"/>
                </a:solidFill>
                <a:latin typeface="Aptos"/>
                <a:ea typeface="Aptos"/>
                <a:cs typeface="Aptos"/>
              </a:rPr>
              <a:t>Điều phối cảnh báo, bảo mật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495DA6-6990-4D7A-BAB2-C5F093BC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30480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101B2D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E19CFE-51A7-4B89-82B9-EC34164B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57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465293-5D23-47D3-91F7-707C28B2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6695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3DF543-7A71-4CC8-8182-153C174A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2890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8B3C7"/>
                </a:solidFill>
                <a:latin typeface="Aptos"/>
                <a:ea typeface="Aptos"/>
                <a:cs typeface="Aptos"/>
              </a:rPr>
              <a:t>Giám sát trực tiếp 24/7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C974C2-A5CF-4838-8A77-D53D072C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30480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101B2D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3195E4-3B36-4CDD-8A2A-404369AA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57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8595BC-E638-4B61-8B72-2BF4C38B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0525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Mobile App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EE4624-7B8C-4C53-8094-5CD6D148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6720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8B3C7"/>
                </a:solidFill>
                <a:latin typeface="Aptos"/>
                <a:ea typeface="Aptos"/>
                <a:cs typeface="Aptos"/>
              </a:rPr>
              <a:t>Nhận cảnh báo tức thời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B0B7B6-A36F-4C51-BE90-1573816D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14750"/>
            <a:ext cx="30480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101B2D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AABCB8-17A7-48FE-A2F2-FF7A4DF9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14750"/>
            <a:ext cx="57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A300E1-ED4C-460C-B7E1-E5BD2FC7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90525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AI Brain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F2BAE7-4D64-4B98-8DB0-3D94FEE4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26720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8B3C7"/>
                </a:solidFill>
                <a:latin typeface="Aptos"/>
                <a:ea typeface="Aptos"/>
                <a:cs typeface="Aptos"/>
              </a:rPr>
              <a:t>RAG hỏi đáp hồ sơ và sơ cứu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BD7A9C-F42B-48FF-A58A-E50CE81D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14750"/>
            <a:ext cx="30480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101B2D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FC0924-031F-4C3A-BB2C-F227A145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14750"/>
            <a:ext cx="571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7D0627-3603-4BB6-A94B-06DBF924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0525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Billing &amp; Ops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B544DE-C2A9-4C12-A41A-73B698BE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8B3C7"/>
                </a:solidFill>
                <a:latin typeface="Aptos"/>
                <a:ea typeface="Aptos"/>
                <a:cs typeface="Aptos"/>
              </a:rPr>
              <a:t>Gói cước, thanh toán, triển khai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210927-1A26-4858-AF98-4804B980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581650"/>
            <a:ext cx="986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Từ một tín hiệu video, CAS tạo ra một quy trình chăm sóc: quan sát → phân tích → xác minh → cảnh báo → hỗ trợ ra quyết định.</a:t>
            </a:r>
          </a:p>
        </p:txBody>
      </p:sp>
    </p:spTree>
    <p:extLst>
      <p:ext uri="{BB962C8B-B14F-4D97-AF65-F5344CB8AC3E}">
        <p14:creationId xmlns:p14="http://schemas.microsoft.com/office/powerpoint/2010/main" val="11890885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A2E4CD-884E-436B-AB71-63E626B1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HẠ TẦNG CAMERA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6BCD9F-7514-44F8-810C-D42908E2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7810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Nền móng: video phải ổn định, riêng tư và rẻ để mở rộng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E36125-DCA7-4726-B58C-815DC207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CAS Startup Pitch  |  05/15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57F94A-46E2-42F1-9274-B84F51B6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76C0FB-6CFB-4B5D-9A03-EE77E993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C8EC79-FCEA-486B-A74D-769A679C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14550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Quản lý theo UserID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0D73E1-A104-45A0-8532-D5714331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38400"/>
            <a:ext cx="430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8B3C7"/>
                </a:solidFill>
                <a:latin typeface="Aptos"/>
                <a:ea typeface="Aptos"/>
                <a:cs typeface="Aptos"/>
              </a:rPr>
              <a:t>JWT kiểm soát quyền sở hữu camera, tránh truy cập chéo dữ liệu riêng tư.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167D15-91CE-4448-9D7F-732304B8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04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C59BED-DCA4-4CBB-943A-43506FFD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5D85E1-3027-448C-9166-C852BBB70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00400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Quét RTSP tự động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E38B1B-97F1-400B-ADE5-E912FA00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24250"/>
            <a:ext cx="430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8B3C7"/>
                </a:solidFill>
                <a:latin typeface="Aptos"/>
                <a:ea typeface="Aptos"/>
                <a:cs typeface="Aptos"/>
              </a:rPr>
              <a:t>Goroutine quét cổng 554 trong mạng LAN để thêm camera thân thiện hơn.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AABCFB-0EDA-418D-8006-7AE25517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EF11B0-F4F9-4F1D-AF55-56088C73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501C55-8EA4-48B1-BFD1-EDED2FD4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86250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RTSP sang HLS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BF91A1-9655-49A8-9471-ECAA1E5B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10100"/>
            <a:ext cx="430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A8B3C7"/>
                </a:solidFill>
                <a:latin typeface="Aptos"/>
                <a:ea typeface="Aptos"/>
                <a:cs typeface="Aptos"/>
              </a:rPr>
              <a:t>FFmpeg chuyển luồng để Dashboard xem trực tiếp trên trình duyệt.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6D56AE-7A21-46E6-A7A9-07D8B42E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33600"/>
            <a:ext cx="36004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101B2D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596727-59CA-470B-A957-126952CA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14600"/>
            <a:ext cx="2743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00" b="1" i="0">
                <a:solidFill>
                  <a:srgbClr val="EF4444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 i="0">
                <a:solidFill>
                  <a:srgbClr val="EF4444"/>
                </a:solidFill>
                <a:latin typeface="Aptos Display"/>
                <a:ea typeface="Aptos Display"/>
                <a:cs typeface="Aptos Display"/>
              </a:rPr>
              <a:t>-c:v copy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A324B2-069F-4E7F-A3A0-F68764EB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95650"/>
            <a:ext cx="274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Truyền video không mã hóa lại khi có thể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AFE714-423E-404F-88CB-145B0411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81450"/>
            <a:ext cx="2933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A8B3C7"/>
                </a:solidFill>
                <a:latin typeface="Aptos"/>
                <a:ea typeface="Aptos"/>
                <a:cs typeface="Aptos"/>
              </a:rPr>
              <a:t>Ý nghĩa kinh doanh: giảm tải CPU, giảm chi phí hạ tầng, tăng số camera trên cùng tài nguyên.</a:t>
            </a:r>
          </a:p>
        </p:txBody>
      </p:sp>
    </p:spTree>
    <p:extLst>
      <p:ext uri="{BB962C8B-B14F-4D97-AF65-F5344CB8AC3E}">
        <p14:creationId xmlns:p14="http://schemas.microsoft.com/office/powerpoint/2010/main" val="7366917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B021B1-81EC-4FC1-92EA-E86B9001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LÕI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634AF6-7B77-43A1-A815-A5EE99DC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7810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Không chỉ thấy người ngã, mà hiểu đó có nguy hiểm không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EAEEA6-9010-48D0-A21D-157DAC50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CAS Startup Pitch  |  06/15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E9CDB3-C8F3-4860-904D-3FBFB4DC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895600" cy="2990850"/>
          </a:xfrm>
          <a:prstGeom xmlns:a="http://schemas.openxmlformats.org/drawingml/2006/main" prst="roundRect">
            <a:avLst>
              <a:gd name="adj" fmla="val 3947"/>
            </a:avLst>
          </a:prstGeom>
          <a:solidFill xmlns:a="http://schemas.openxmlformats.org/drawingml/2006/main">
            <a:srgbClr val="101B2D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A42DA1-6E66-47E0-9C25-1F9E7EE9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33 điểm khớp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F462C6-3791-4023-BF18-B48E62345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2133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A8B3C7"/>
                </a:solidFill>
                <a:latin typeface="Aptos"/>
                <a:ea typeface="Aptos"/>
                <a:cs typeface="Aptos"/>
              </a:rPr>
              <a:t>MediaPipe Pose biến từng khung hình thành dữ liệu chuyển động con người.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CAB964-A650-4100-8196-5C28F7CC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38350"/>
            <a:ext cx="3714750" cy="299085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101B2D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0610ED-5AEF-45D4-903C-7D6FA2EF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81250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CNN-1D + LSTM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016F80-48F5-49B1-B912-CAA98D9B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28950"/>
            <a:ext cx="2686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A8B3C7"/>
                </a:solidFill>
                <a:latin typeface="Aptos"/>
                <a:ea typeface="Aptos"/>
                <a:cs typeface="Aptos"/>
              </a:rPr>
              <a:t>Xử lý 30 frame liên tiếp để hiểu tốc độ, hướng ngã và diễn biến tư thế.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DCC633-F5F3-48D0-AF33-72E45085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38350"/>
            <a:ext cx="3257550" cy="2990850"/>
          </a:xfrm>
          <a:prstGeom xmlns:a="http://schemas.openxmlformats.org/drawingml/2006/main" prst="roundRect">
            <a:avLst>
              <a:gd name="adj" fmla="val 3822"/>
            </a:avLst>
          </a:prstGeom>
          <a:solidFill xmlns:a="http://schemas.openxmlformats.org/drawingml/2006/main">
            <a:srgbClr val="101B2D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A7B213-8F59-483A-AAA6-942735A9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rPr sz="2325" b="1" i="0">
                <a:solidFill>
                  <a:srgbClr val="EF4444"/>
                </a:solidFill>
                <a:latin typeface="Aptos"/>
                <a:ea typeface="Aptos"/>
                <a:cs typeface="Aptos"/>
              </a:rPr>
              <a:t>Giảm báo động giả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30E311-BF7B-4F5B-8995-3EC63F4B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28950"/>
            <a:ext cx="2343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A8B3C7"/>
                </a:solidFill>
                <a:latin typeface="Aptos"/>
                <a:ea typeface="Aptos"/>
                <a:cs typeface="Aptos"/>
              </a:rPr>
              <a:t>Spine Angle Drop + YOLOv11 + phân tích dao động sau ngã.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72B510-82AC-49F9-BC6B-B8C8A0F8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562600"/>
            <a:ext cx="937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Lợi thế cạnh tranh: kết hợp nhiều tín hiệu để phân biệt nghỉ ngơi bình thường với tai nạn thật.</a:t>
            </a:r>
          </a:p>
        </p:txBody>
      </p:sp>
    </p:spTree>
    <p:extLst>
      <p:ext uri="{BB962C8B-B14F-4D97-AF65-F5344CB8AC3E}">
        <p14:creationId xmlns:p14="http://schemas.microsoft.com/office/powerpoint/2010/main" val="1757088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9C0903-37CC-4CBB-94CD-68F5919C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SINH HIỆU KHÔNG TIẾP XÚC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65B5C6-539C-45D1-A264-420A5578D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7810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Không đeo thiết bị vẫn có thể theo dõi dấu hiệu nguy hiểm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7C1D6A-8976-4BF1-B766-F48C0923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CAS Startup Pitch  |  07/15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AAD068-FD41-4D1D-9F68-540668E5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3238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01B2D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179C07-D941-41BA-B9BD-D120A539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EA8ADE-206D-4209-BCCA-E1522742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431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Nhịp tim rPPG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56F0E9-FC8B-437E-A2D8-5641B5BF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05100"/>
            <a:ext cx="2781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8B3C7"/>
                </a:solidFill>
                <a:latin typeface="Aptos"/>
                <a:ea typeface="Aptos"/>
                <a:cs typeface="Aptos"/>
              </a:rPr>
              <a:t>Đọc biến đổi rất nhỏ của màu da mặt, qua DeepPhys, Butterworth và FFT để tính BPM.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5D3951-6FCD-4E5F-9359-6A398732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52650"/>
            <a:ext cx="3238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01B2D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674B78-44FD-4FCF-8EEB-7F9D816D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5265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3E5E78-0045-4A44-8BCB-F97359F9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431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Nhịp thở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71FE76-ABA3-42EE-82BE-2A791307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05100"/>
            <a:ext cx="2781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8B3C7"/>
                </a:solidFill>
                <a:latin typeface="Aptos"/>
                <a:ea typeface="Aptos"/>
                <a:cs typeface="Aptos"/>
              </a:rPr>
              <a:t>Theo dõi dao động vùng ngực từ MediaPipe Pose để phát hiện thở nhanh, chậm hoặc nguy cơ ngưng thở.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530813-4DFA-4217-ACFF-760D053E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3238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01B2D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4F445B-CD71-4C52-BF1A-EBE499F7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19119B-5A05-4F3B-A518-D41F9001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431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Biểu cảm đau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1C9542-AAF8-49AE-BE16-79BE4230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05100"/>
            <a:ext cx="2781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8B3C7"/>
                </a:solidFill>
                <a:latin typeface="Aptos"/>
                <a:ea typeface="Aptos"/>
                <a:cs typeface="Aptos"/>
              </a:rPr>
              <a:t>Face Mesh phân tích lông mày, mắt và miệng để tạo điểm đau từ khuôn mặt.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4029FD-E6A4-4292-9C68-308B04A4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52950"/>
            <a:ext cx="91059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D2234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F3BF8B-586E-4C3E-A87C-FCF6B2A5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80060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B981"/>
                </a:solidFill>
                <a:latin typeface="Aptos"/>
                <a:ea typeface="Aptos"/>
                <a:cs typeface="Aptos"/>
              </a:rPr>
              <a:t>Cá nhân hóa theo bệnh nền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37E494-7DEC-4761-984C-44BA6EE4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800600"/>
            <a:ext cx="508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Bệnh tim, bệnh phổi, thuốc chẹn beta → ngưỡng cảnh báo thay đổi theo từng bệnh nhân.</a:t>
            </a:r>
          </a:p>
        </p:txBody>
      </p:sp>
    </p:spTree>
    <p:extLst>
      <p:ext uri="{BB962C8B-B14F-4D97-AF65-F5344CB8AC3E}">
        <p14:creationId xmlns:p14="http://schemas.microsoft.com/office/powerpoint/2010/main" val="13762956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E62768-84E2-41FE-AC71-32DF5A74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CẢNH BÁO KHẨN CẤP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C5ACC0-68CD-4F57-84DB-F3438A39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7810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Từ tín hiệu bất thường đến hành động cứu hộ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009FCE-1F79-4FFE-A76C-6D0A6075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CAS Startup Pitch  |  08/15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487395-7E60-44FF-97D6-85195017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255F1F-D858-40FC-A677-2209A75E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9080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AB55D0-1FD5-4A5E-82E2-28855871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Theo dõi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52951D-3B4B-490D-B25E-98239C30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1000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8B3C7"/>
                </a:solidFill>
                <a:latin typeface="Aptos"/>
                <a:ea typeface="Aptos"/>
                <a:cs typeface="Aptos"/>
              </a:rPr>
              <a:t>Dashboard nhấp nháy, Telegram cảnh báo nghi vấn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A49BE1-0CA3-438B-BD52-255017EB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628900"/>
            <a:ext cx="10668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243A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7709B4-8E08-48C4-AFC9-0BD7390AF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8125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6E2F5D-45DD-4854-ACAC-FF498B1E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9080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8s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9DC61A-122D-413C-983B-D7D7296E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42900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Bằng chứng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A7920D-6E50-43F0-B8A3-72831E71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81000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8B3C7"/>
                </a:solidFill>
                <a:latin typeface="Aptos"/>
                <a:ea typeface="Aptos"/>
                <a:cs typeface="Aptos"/>
              </a:rPr>
              <a:t>Chụp ảnh sự cố từ camera và lưu lại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29B770-3B0B-46EE-95AB-B59EB329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28900"/>
            <a:ext cx="10668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243A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705EF6-D4CD-4646-A04C-ACECF737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8125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B57E40-2590-4407-A81A-B96F54E1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9080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13s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B13BAE-6787-41A6-8CB1-BE993C35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2900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Cảnh báo đỏ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78CB22-35E0-499C-9EF3-68D9B496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81000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8B3C7"/>
                </a:solidFill>
                <a:latin typeface="Aptos"/>
                <a:ea typeface="Aptos"/>
                <a:cs typeface="Aptos"/>
              </a:rPr>
              <a:t>Gửi Telegram kèm ảnh, lặp mỗi 5 giây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409BC8-934E-4628-B8C8-F035B76A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628900"/>
            <a:ext cx="10668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243A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0F2DF6-5E79-4F21-8231-ABDE0232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8125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7A4B55-D1FA-449B-8E2D-5186BAFE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9080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20s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2E4205-DFEC-4B95-9074-F8575E54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42900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Gọi khẩn cấp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C19DC6-A16F-4CEB-9F0C-2F6F34DA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1000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8B3C7"/>
                </a:solidFill>
                <a:latin typeface="Aptos"/>
                <a:ea typeface="Aptos"/>
                <a:cs typeface="Aptos"/>
              </a:rPr>
              <a:t>Twilio gọi người thân bằng TTS tiếng Việt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D7F52F-8F06-445B-97C6-708ACACC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91150"/>
            <a:ext cx="944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Một cảnh báo tốt không chỉ nhanh. Nó phải đúng mức, có bằng chứng và kéo đúng người quay về tình huống khẩn cấp.</a:t>
            </a:r>
          </a:p>
        </p:txBody>
      </p:sp>
    </p:spTree>
    <p:extLst>
      <p:ext uri="{BB962C8B-B14F-4D97-AF65-F5344CB8AC3E}">
        <p14:creationId xmlns:p14="http://schemas.microsoft.com/office/powerpoint/2010/main" val="17511829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307F9D-0D07-4671-8F3F-92960FEC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AI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19DAC6-4D22-49F0-9485-CC490F8E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7810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Từ cảnh báo đơn lẻ thành chăm sóc liên tục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1D74D0-1007-4109-835A-81930CDA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CAS Startup Pitch  |  09/15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43003E-61D6-456F-8F7C-DA40BD82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419100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101B2D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39D5DC-43F1-4E1C-92AD-EAD336F3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003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Người thân hỏi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F6526F-BD8E-4883-B6B5-BD7200CB1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33700"/>
            <a:ext cx="342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“Mẹ tôi tháng này đã té mấy lần?”</a:t>
            </a:r>
          </a:p>
          <a:p xmlns:a="http://schemas.openxmlformats.org/drawingml/2006/main">
            <a:pPr algn="l">
              <a:defRPr sz="1575" b="0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“Chỉ số này có nguy hiểm với bệnh tim không?”</a:t>
            </a:r>
          </a:p>
          <a:p xmlns:a="http://schemas.openxmlformats.org/drawingml/2006/main">
            <a:pPr algn="l">
              <a:defRPr sz="1575" b="0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“Nên sơ cứu thế nào trước?”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44154B-FE92-413C-8ABC-87764033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238500"/>
            <a:ext cx="8572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083FB1-B443-4682-87F4-522B36E0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76450"/>
            <a:ext cx="419100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101B2D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723EBB-37EE-4C0C-9921-38EDD557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003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B981"/>
                </a:solidFill>
                <a:latin typeface="Aptos"/>
                <a:ea typeface="Aptos"/>
                <a:cs typeface="Aptos"/>
              </a:rPr>
              <a:t>RAG trả lời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B693C2-56CA-4F71-8F5E-A9984690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33700"/>
            <a:ext cx="3333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Embedding → ChromaDB → Gemini 2.5 Flash Lite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Kết hợp hồ sơ sức khỏe, lịch sử sự cố và tài liệu sơ cứu.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4F21D4-9EB2-4AC7-9116-42965355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62600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Giá trị: người dùng có lý do quay lại sản phẩm cả trước, trong và sau sự cố.</a:t>
            </a:r>
          </a:p>
        </p:txBody>
      </p:sp>
    </p:spTree>
    <p:extLst>
      <p:ext uri="{BB962C8B-B14F-4D97-AF65-F5344CB8AC3E}">
        <p14:creationId xmlns:p14="http://schemas.microsoft.com/office/powerpoint/2010/main" val="2752290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EACF12-0C74-4FE3-A94B-9C0082E02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MÔ HÌNH KINH DOANH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C72BA3-FFE1-4B01-8067-1987454A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7810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SaaS cho chăm sóc an toàn tại nhà và cơ sở chăm sóc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9CEF1A-EC7B-4B14-882A-CDE67447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CAS Startup Pitch  |  10/15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8642B8-0809-43DD-97F6-6FC16027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4762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01B2D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5DD1C5-0D2F-4C21-A8DD-664BA930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8166AC-5D0A-4512-98A5-C4EA0439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43150"/>
            <a:ext cx="430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B2C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49FE58-572D-4E97-B4D0-71F358D4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05100"/>
            <a:ext cx="4305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8B3C7"/>
                </a:solidFill>
                <a:latin typeface="Aptos"/>
                <a:ea typeface="Aptos"/>
                <a:cs typeface="Aptos"/>
              </a:rPr>
              <a:t>Gia đình có người già, người bệnh tim mạch, nguy cơ đột quỵ, động kinh hoặc sống một mình.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6A1A7B-3768-44A5-9A68-B8A82367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52650"/>
            <a:ext cx="4762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01B2D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1560A6-BD72-4130-B4FB-A0C241AD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5265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66B2D4-7152-4532-A121-56DBD517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43150"/>
            <a:ext cx="430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B2B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4725F4-A5BE-4594-8EAA-6DB75B8F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05100"/>
            <a:ext cx="4305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8B3C7"/>
                </a:solidFill>
                <a:latin typeface="Aptos"/>
                <a:ea typeface="Aptos"/>
                <a:cs typeface="Aptos"/>
              </a:rPr>
              <a:t>Viện dưỡng lão, phòng khám phục hồi chức năng, trung tâm chăm sóc sau đột quỵ.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B39A55-ED24-4622-9B7F-800548A4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38650"/>
            <a:ext cx="15621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4243A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31E24C-E654-4CE4-9157-8527FB22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101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Free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E02C72-DB57-409A-ADD7-258F4864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1490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A8B3C7"/>
                </a:solidFill>
                <a:latin typeface="Aptos"/>
                <a:ea typeface="Aptos"/>
                <a:cs typeface="Aptos"/>
              </a:rPr>
              <a:t>1 cam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8916F8-0B9E-4B3C-BA91-07742EA2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438650"/>
            <a:ext cx="15621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4243A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DB9AFE-DF86-4DF2-8282-C3E11BF6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6101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Starter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5E6F01-6F21-42D1-A4FB-0C4225EE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91490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A8B3C7"/>
                </a:solidFill>
                <a:latin typeface="Aptos"/>
                <a:ea typeface="Aptos"/>
                <a:cs typeface="Aptos"/>
              </a:rPr>
              <a:t>3 cam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65630B-930F-4FC9-AB06-AB620546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438650"/>
            <a:ext cx="15621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4243A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D1CEB7-6ED1-484A-A898-D859735F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6101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Creator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FBCDCD-21FC-44F2-84A1-1DE252E7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91490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A8B3C7"/>
                </a:solidFill>
                <a:latin typeface="Aptos"/>
                <a:ea typeface="Aptos"/>
                <a:cs typeface="Aptos"/>
              </a:rPr>
              <a:t>10 cam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E9EB9C-A347-4ACD-8585-498B2F12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438650"/>
            <a:ext cx="15621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F4444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0E32C9-13D0-4323-BEDE-561A9F45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101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Pro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BE06E4-ACC4-4320-8285-1253CFB6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1490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25 cam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B04661-DE98-4C41-9774-FFE33EDB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38650"/>
            <a:ext cx="15621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4243A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C695B5-C7E2-4542-9260-46ED3D06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6101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Scale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930035-AB63-4CC8-9461-EC795D54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91490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A8B3C7"/>
                </a:solidFill>
                <a:latin typeface="Aptos"/>
                <a:ea typeface="Aptos"/>
                <a:cs typeface="Aptos"/>
              </a:rPr>
              <a:t>1000 cam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30482C-0FD2-4653-B5A9-D6CF0262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1500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Doanh thu mở rộng: thuê bao phần mềm, triển khai camera, lưu trữ bằng chứng, AI nâng cao cho tổ chức.</a:t>
            </a:r>
          </a:p>
        </p:txBody>
      </p:sp>
    </p:spTree>
    <p:extLst>
      <p:ext uri="{BB962C8B-B14F-4D97-AF65-F5344CB8AC3E}">
        <p14:creationId xmlns:p14="http://schemas.microsoft.com/office/powerpoint/2010/main" val="12734546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C399D8-67CC-4E05-8A32-E9F31E9E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TRẢI NGHIỆM NGƯỜI DÙNG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BF5FC8-0C7F-4E1A-A393-C3C4880F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7810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Trong khẩn cấp, người dùng không có thời gian để đọc quá nhiều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475914-DC87-4E14-81C2-29416403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CAS Startup Pitch  |  11/15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A35E94-B2E8-4F2D-A2EB-98A5F393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38350"/>
            <a:ext cx="4381500" cy="306705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101B2D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718B07-49B9-4AF9-A0ED-1E57108C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3812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5223A9-BFC7-4CAF-B2A0-2F883647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914650"/>
            <a:ext cx="1524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F2B22"/>
          </a:solidFill>
          <a:ln xmlns:a="http://schemas.openxmlformats.org/drawingml/2006/main" w="19050">
            <a:solidFill>
              <a:srgbClr val="10B98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9AC897-FF29-4690-B66D-0D5B1C66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575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B981"/>
                </a:solidFill>
                <a:latin typeface="Aptos"/>
                <a:ea typeface="Aptos"/>
                <a:cs typeface="Aptos"/>
              </a:rPr>
              <a:t>AN TOÀN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4CEA00-8F5A-4C15-AE98-F0D560CD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914650"/>
            <a:ext cx="1524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351F0B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3482C5-9D18-4CE0-87EE-79DE336E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575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59E0B"/>
                </a:solidFill>
                <a:latin typeface="Aptos"/>
                <a:ea typeface="Aptos"/>
                <a:cs typeface="Aptos"/>
              </a:rPr>
              <a:t>NGHI VẤN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537768-9AB3-4729-9090-6025DB98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000500"/>
            <a:ext cx="15240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3A1116"/>
          </a:solidFill>
          <a:ln xmlns:a="http://schemas.openxmlformats.org/drawingml/2006/main" w="28575">
            <a:solidFill>
              <a:srgbClr val="EF444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3CE6EE-F4F1-4C0F-B495-753E7A29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2481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EF4444"/>
                </a:solidFill>
                <a:latin typeface="Aptos"/>
                <a:ea typeface="Aptos"/>
                <a:cs typeface="Aptos"/>
              </a:rPr>
              <a:t>KHẨN CẤP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0C87FF-A3A1-41C2-9A41-5BC6B5FC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28850"/>
            <a:ext cx="4095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01B2D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CE4E78-152D-44CF-B201-7652F6E5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288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1DAD08-5DE9-4935-9094-15604E91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19350"/>
            <a:ext cx="3638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Thiết kế cho tốc độ nhận thức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F01B22-CAF0-4425-86AD-1CB48A08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813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8B3C7"/>
                </a:solidFill>
                <a:latin typeface="Aptos"/>
                <a:ea typeface="Aptos"/>
                <a:cs typeface="Aptos"/>
              </a:rPr>
              <a:t>Màu xanh, vàng, đỏ giúp người giám sát hiểu mức nguy hiểm trong vài giây.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243EF6-E187-4F54-9B71-8B477A5E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00450"/>
            <a:ext cx="4095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01B2D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B59EA8-246F-4A43-921F-F7B2E390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004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D08BA1-0076-449E-9B7E-1E3C1983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90950"/>
            <a:ext cx="3638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Tín hiệu sống của camera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906256-920A-4456-989B-8C1B9B4B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529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8B3C7"/>
                </a:solidFill>
                <a:latin typeface="Aptos"/>
                <a:ea typeface="Aptos"/>
                <a:cs typeface="Aptos"/>
              </a:rPr>
              <a:t>Pulse indicator cho biết luồng video còn hoạt động, tránh giám sát trên dữ liệu chết.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671366-0E74-4022-8115-50A8E8B8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57850"/>
            <a:ext cx="819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UI không chỉ để đẹp. UI là một phần của hệ thống cảnh báo.</a:t>
            </a:r>
          </a:p>
        </p:txBody>
      </p:sp>
    </p:spTree>
    <p:extLst>
      <p:ext uri="{BB962C8B-B14F-4D97-AF65-F5344CB8AC3E}">
        <p14:creationId xmlns:p14="http://schemas.microsoft.com/office/powerpoint/2010/main" val="13994421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FAC558-4BD7-4B9A-9BEC-A3CA820F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BẢO MẬT VÀ NIỀM TIN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D214B9-497F-496E-B9D6-8D40C604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7810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Không có niềm tin thì không có thị trường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DD3768-5D3A-4DC1-94F2-0EC6517C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CAS Startup Pitch  |  12/15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20CF7B-1425-4A48-AA84-BE5BDD1B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314325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101B2D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368FD0-2623-4E31-8FC4-5664834B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571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ABACE3-F98D-4E34-9753-9EA5B77A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0505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JWT đa kênh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E7022B-0A11-4B69-BCAA-2C528BC1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2686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8B3C7"/>
                </a:solidFill>
                <a:latin typeface="Aptos"/>
                <a:ea typeface="Aptos"/>
                <a:cs typeface="Aptos"/>
              </a:rPr>
              <a:t>Web, Mobile và WebSocket dùng xác thực để bảo vệ phiên người dùng.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76111F-C6BC-4466-BCAD-DE04ADFF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14550"/>
            <a:ext cx="314325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101B2D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DB080C-78EB-497E-A16F-98C5F2F7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14550"/>
            <a:ext cx="571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2B67B0-9AF1-4D9A-9396-5AFE6862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0505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Secure HLS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D33F6F-18F5-47FB-93DD-8A5A696E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67000"/>
            <a:ext cx="2686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8B3C7"/>
                </a:solidFill>
                <a:latin typeface="Aptos"/>
                <a:ea typeface="Aptos"/>
                <a:cs typeface="Aptos"/>
              </a:rPr>
              <a:t>Luồng video được bảo vệ bằng token, hạn chế truy cập trái phép.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A9CBE1-144E-4B6F-BE7A-73C0A163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14550"/>
            <a:ext cx="314325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101B2D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1C6AC2-EBAD-41E9-A789-EECD1E1E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14550"/>
            <a:ext cx="571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3E11C8-3A40-41C3-9FBC-FB9F138C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0505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Ownership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880806-2AEE-4A12-9965-775BE72C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67000"/>
            <a:ext cx="2686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8B3C7"/>
                </a:solidFill>
                <a:latin typeface="Aptos"/>
                <a:ea typeface="Aptos"/>
                <a:cs typeface="Aptos"/>
              </a:rPr>
              <a:t>Camera luôn kiểm tra UserID để tránh truy cập tài nguyên của người khác.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378B45-DD85-488D-B403-3FB3E7A3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210050"/>
            <a:ext cx="92202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51F32"/>
          </a:solidFill>
          <a:ln xmlns:a="http://schemas.openxmlformats.org/drawingml/2006/main" w="9525">
            <a:solidFill>
              <a:srgbClr val="EF444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0A3B9E-10C5-4D3C-B6B5-1B9A1240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457700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EF4444"/>
                </a:solidFill>
                <a:latin typeface="Aptos"/>
                <a:ea typeface="Aptos"/>
                <a:cs typeface="Aptos"/>
              </a:rPr>
              <a:t>Lộ trình trước thương mại hóa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C0861B-5E43-4E79-9D57-0B4C589D1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19650"/>
            <a:ext cx="838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Bổ sung chữ ký webhook SePay • lọc analytics theo UserID • liên kết archive video bằng chứng với Alert Engine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C6F58A-01A8-4AED-8401-0054901B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734050"/>
            <a:ext cx="887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A8B3C7"/>
                </a:solidFill>
                <a:latin typeface="Aptos"/>
                <a:ea typeface="Aptos"/>
                <a:cs typeface="Aptos"/>
              </a:rPr>
              <a:t>Trung thực kỹ thuật giúp ban giám khảo thấy sản phẩm có lộ trình trưởng thành, không chỉ là demo.</a:t>
            </a:r>
          </a:p>
        </p:txBody>
      </p:sp>
    </p:spTree>
    <p:extLst>
      <p:ext uri="{BB962C8B-B14F-4D97-AF65-F5344CB8AC3E}">
        <p14:creationId xmlns:p14="http://schemas.microsoft.com/office/powerpoint/2010/main" val="151420198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FB1F59-D8F1-48A8-AE01-97085B15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TẦM NHÌN MỞ RỘNG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EF58E6-DFCF-4710-A1AB-9D6AB3F9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7810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Từ phát hiện tai nạn đến phòng ngừa tai nạn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87EE51-1880-491D-9367-B590A0C3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CAS Startup Pitch  |  13/15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F04884-B55B-4977-8476-16F6F28D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4762500" cy="281940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101B2D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546108-5AB9-4DE3-BCBA-373A6578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57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F59E0B"/>
                </a:solidFill>
                <a:latin typeface="Aptos"/>
                <a:ea typeface="Aptos"/>
                <a:cs typeface="Aptos"/>
              </a:rPr>
              <a:t>Hazard Zones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762342-EB9B-447B-8D4F-9DCD8960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05150"/>
            <a:ext cx="3714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Người dùng vẽ vùng nguy hiểm: cầu thang, bếp, nhà tắm, ban công. AI cảnh báo trước khi người bệnh tiến vào.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7E5D31-28A7-43DC-8075-F15756EA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14550"/>
            <a:ext cx="4762500" cy="281940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101B2D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4523FF-9376-46CC-8D07-4A4C60F1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574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Night Wandering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C84B3C-C8F6-4EBE-8644-CD6224AE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105150"/>
            <a:ext cx="3714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Theo dõi người Alzheimer hoặc người già rời giường ban đêm, gửi cảnh báo im lặng cho người chăm sóc.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8503AD-29DD-403D-AF44-3488C4EC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600700"/>
            <a:ext cx="853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Use case đầu tiên là té ngã. Nền tảng dài hạn là chăm sóc chủ động tại nhà.</a:t>
            </a:r>
          </a:p>
        </p:txBody>
      </p:sp>
    </p:spTree>
    <p:extLst>
      <p:ext uri="{BB962C8B-B14F-4D97-AF65-F5344CB8AC3E}">
        <p14:creationId xmlns:p14="http://schemas.microsoft.com/office/powerpoint/2010/main" val="152729155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1A41C8-39C2-4C99-A82A-CDC22263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TRIỂN KHAI VÀ VẬN HÀNH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709541-11D4-43C2-A40F-2829CF0E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7810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Sẵn sàng đi ra ngoài máy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E70FE7-5F29-4091-9277-91C5D022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CAS Startup Pitch  |  14/15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1F8A53-EAED-478E-9BDF-1785702A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46672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101B2D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40BC84-1B80-469E-AC83-B4BC063D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765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Docker Compose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F8D97A-F18F-4A22-A99F-AD9AA50D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24200"/>
            <a:ext cx="2857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100" b="0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MongoDB</a:t>
            </a:r>
          </a:p>
          <a:p xmlns:a="http://schemas.openxmlformats.org/drawingml/2006/main">
            <a:pPr algn="l">
              <a:defRPr sz="2100" b="0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100" b="0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Redis</a:t>
            </a:r>
          </a:p>
          <a:p xmlns:a="http://schemas.openxmlformats.org/drawingml/2006/main">
            <a:pPr algn="l">
              <a:defRPr sz="2100" b="0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100" b="0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Go Backend</a:t>
            </a:r>
          </a:p>
          <a:p xmlns:a="http://schemas.openxmlformats.org/drawingml/2006/main">
            <a:pPr algn="l">
              <a:defRPr sz="2100" b="0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100" b="0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Next.js Web App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9EFAD7-0307-4862-AD4D-A3471FFD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14550"/>
            <a:ext cx="46672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101B2D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CD5883-A9D0-416E-B469-388B6811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765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10B981"/>
                </a:solidFill>
                <a:latin typeface="Aptos"/>
                <a:ea typeface="Aptos"/>
                <a:cs typeface="Aptos"/>
              </a:rPr>
              <a:t>VPS Recovery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6865CA-48F3-4EAC-A2C8-BA957EDB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24200"/>
            <a:ext cx="342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950" b="0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FFmpeg • OpenGL • Mesa</a:t>
            </a:r>
          </a:p>
          <a:p xmlns:a="http://schemas.openxmlformats.org/drawingml/2006/main">
            <a:pPr algn="l">
              <a:defRPr sz="1950" b="0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950" b="0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Python venv • PyTorch</a:t>
            </a:r>
          </a:p>
          <a:p xmlns:a="http://schemas.openxmlformats.org/drawingml/2006/main">
            <a:pPr algn="l">
              <a:defRPr sz="1950" b="0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950" b="0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AI Hub • AI Brain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34E0DC-94A2-4113-AB4B-04FE150D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676900"/>
            <a:ext cx="887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Một hệ thống cảnh báo sức khỏe không chỉ cần thông minh. Nó phải sẵn sàng đúng lúc.</a:t>
            </a:r>
          </a:p>
        </p:txBody>
      </p:sp>
    </p:spTree>
    <p:extLst>
      <p:ext uri="{BB962C8B-B14F-4D97-AF65-F5344CB8AC3E}">
        <p14:creationId xmlns:p14="http://schemas.microsoft.com/office/powerpoint/2010/main" val="134190607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DE80A0-02C5-41AA-B67F-4FDB1321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685800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6C89FC-4376-4E31-A070-E9D5F4A0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 i="0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CAS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2FA069-47AE-496D-A095-D8507A8D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2D3EE"/>
                </a:solidFill>
                <a:latin typeface="Aptos"/>
                <a:ea typeface="Aptos"/>
                <a:cs typeface="Aptos"/>
              </a:rPr>
              <a:t>Kết luận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CC3D1B-2214-4073-8703-B0A9905D3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695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 i="0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CAS không chỉ bán phần mềm. CAS bán sự an tâm.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2401C4-C4BC-4C0C-B786-29F6B1F2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67150"/>
            <a:ext cx="657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A8B3C7"/>
                </a:solidFill>
                <a:latin typeface="Aptos"/>
                <a:ea typeface="Aptos"/>
                <a:cs typeface="Aptos"/>
              </a:rPr>
              <a:t>Khi người thân gặp nguy hiểm, họ không phải chờ đến khi ai đó tình cờ phát hiện.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9BF793-114F-4EA1-BD37-BBDA304C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05050"/>
            <a:ext cx="3143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1B2D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F223A9-03FA-408B-9AF9-1BED96CB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0505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C6921C-C7FA-43D1-ACF7-C0A288DE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9555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Vấn đề thật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787B5F-142E-405A-BBB0-48DD1D63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2686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8B3C7"/>
                </a:solidFill>
                <a:latin typeface="Aptos"/>
                <a:ea typeface="Aptos"/>
                <a:cs typeface="Aptos"/>
              </a:rPr>
              <a:t>Không thể túc trực 24/7.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8D3470-5280-48DF-8EAE-8CB66F12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429000"/>
            <a:ext cx="3143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B2D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ACB5CA-E8EA-421B-A043-E4F2F3B8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429000"/>
            <a:ext cx="57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114A25-6B32-4821-8940-55452E8D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1950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Giải pháp thật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B0C7BC-79A7-44BD-A121-69072E9D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8145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8B3C7"/>
                </a:solidFill>
                <a:latin typeface="Aptos"/>
                <a:ea typeface="Aptos"/>
                <a:cs typeface="Aptos"/>
              </a:rPr>
              <a:t>AI camera, cảnh báo đa kênh, RAG assistant.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462746-AAC0-4CD0-BF3A-4E4F3CA9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705350"/>
            <a:ext cx="3143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B2D"/>
          </a:solidFill>
          <a:ln xmlns:a="http://schemas.openxmlformats.org/drawingml/2006/main" w="9525">
            <a:solidFill>
              <a:srgbClr val="26364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12E67E-A822-4F24-B293-16BC7B87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705350"/>
            <a:ext cx="57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99996D-79EB-4778-8B5C-59CA9CF2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9585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Mô hình rõ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8A1451-BB5A-428B-B903-370A17A1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5780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8B3C7"/>
                </a:solidFill>
                <a:latin typeface="Aptos"/>
                <a:ea typeface="Aptos"/>
                <a:cs typeface="Aptos"/>
              </a:rPr>
              <a:t>SaaS theo số lượng camera cho B2C và B2B.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D5C410-F42B-40F4-B1E3-F26166D5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578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F8FAFC"/>
                </a:solidFill>
                <a:latin typeface="Aptos"/>
                <a:ea typeface="Aptos"/>
                <a:cs typeface="Aptos"/>
              </a:rPr>
              <a:t>Cảm ơn ban giám khảo, thầy cô và các bạn.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9DB832-C6DF-4FCD-93A0-070DA7DC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CAS Startup Pitch  |  15/15</a:t>
            </a:r>
          </a:p>
        </p:txBody>
      </p:sp>
    </p:spTree>
    <p:extLst>
      <p:ext uri="{BB962C8B-B14F-4D97-AF65-F5344CB8AC3E}">
        <p14:creationId xmlns:p14="http://schemas.microsoft.com/office/powerpoint/2010/main" val="11640884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2026-06-18T08:50:18.8870000Z</dcterms:created>
  <dcterms:modified xsi:type="dcterms:W3CDTF">2026-06-18T08:50:18.8880000Z</dcterms:modified>
</coreProperties>
</file>